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1" r:id="rId4"/>
    <p:sldId id="258" r:id="rId5"/>
    <p:sldId id="259" r:id="rId6"/>
    <p:sldId id="260" r:id="rId7"/>
    <p:sldId id="263" r:id="rId8"/>
    <p:sldId id="264" r:id="rId9"/>
    <p:sldId id="265" r:id="rId10"/>
    <p:sldId id="266" r:id="rId11"/>
    <p:sldId id="267" r:id="rId12"/>
    <p:sldId id="262"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pChg chg="add del">
          <ac:chgData name="TSP MADHURI" userId="d5baabbced009fe2" providerId="LiveId" clId="{5C1935DC-7BAA-4BFD-8AE9-FAF66D151093}" dt="2026-09-15T09:58:23.995" v="1" actId="22"/>
          <ac:spMkLst>
            <pc:docMk/>
            <pc:sldMk cId="1570750093" sldId="256"/>
            <ac:spMk id="5" creationId="{16E58A68-9A46-73D5-6ACA-6EBDA713DE38}"/>
          </ac:spMkLst>
        </pc:spChg>
        <pc:spChg chg="add del mod">
          <ac:chgData name="TSP MADHURI" userId="d5baabbced009fe2" providerId="LiveId" clId="{5C1935DC-7BAA-4BFD-8AE9-FAF66D151093}" dt="2026-09-15T10:01:58.231" v="188" actId="22"/>
          <ac:spMkLst>
            <pc:docMk/>
            <pc:sldMk cId="1570750093" sldId="256"/>
            <ac:spMk id="7" creationId="{195ACB3F-808A-0A7A-B8BD-A70C42ECC1E5}"/>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53476CA-421D-4B57-8942-5762D93F1AB2}" type="slidenum">
              <a:rPr lang="en-IN" smtClean="0"/>
              <a:t>9</a:t>
            </a:fld>
            <a:endParaRPr lang="en-IN"/>
          </a:p>
        </p:txBody>
      </p:sp>
    </p:spTree>
    <p:extLst>
      <p:ext uri="{BB962C8B-B14F-4D97-AF65-F5344CB8AC3E}">
        <p14:creationId xmlns:p14="http://schemas.microsoft.com/office/powerpoint/2010/main" val="6655705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16-10-2026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16-10-2026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16-10-2026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16-10-2026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16-10-2026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16-10-2026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16-10-2026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16-10-2026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16-10-2026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16-10-2026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16-10-2026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p:txBody>
          <a:bodyPr>
            <a:normAutofit fontScale="90000"/>
          </a:bodyPr>
          <a:lstStyle/>
          <a:p>
            <a:pPr>
              <a:spcAft>
                <a:spcPts val="500"/>
              </a:spcAft>
            </a:pPr>
            <a:r>
              <a:rPr dirty="0"/>
              <a:t>Hospital Emergency-Room Triage System</a:t>
            </a:r>
          </a:p>
          <a:p>
            <a:pPr>
              <a:spcAft>
                <a:spcPts val="500"/>
              </a:spcAft>
            </a:pPr>
            <a:r>
              <a:rPr dirty="0"/>
              <a:t>Team No: </a:t>
            </a:r>
            <a:r>
              <a:rPr lang="en-GB" dirty="0" smtClean="0"/>
              <a:t>24</a:t>
            </a:r>
            <a:endParaRPr dirty="0"/>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pPr>
              <a:spcAft>
                <a:spcPts val="500"/>
              </a:spcAft>
            </a:pPr>
            <a:r>
              <a:t>S. Amulya     2620030210</a:t>
            </a:r>
          </a:p>
          <a:p>
            <a:pPr>
              <a:spcAft>
                <a:spcPts val="500"/>
              </a:spcAft>
            </a:pPr>
            <a:r>
              <a:t>V. Vaishnavi  2620030208</a:t>
            </a:r>
          </a:p>
          <a:p>
            <a:pPr>
              <a:spcAft>
                <a:spcPts val="500"/>
              </a:spcAft>
            </a:pPr>
            <a:r>
              <a:t>S. Akshaya    2620030209</a:t>
            </a:r>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16-10-2026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a:lstStyle/>
          <a:p>
            <a:pPr>
              <a:spcAft>
                <a:spcPts val="500"/>
              </a:spcAft>
            </a:pPr>
            <a:r>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p:txBody>
          <a:bodyPr>
            <a:normAutofit fontScale="85000" lnSpcReduction="20000"/>
          </a:bodyPr>
          <a:lstStyle/>
          <a:p>
            <a:pPr>
              <a:spcAft>
                <a:spcPts val="500"/>
              </a:spcAft>
            </a:pPr>
            <a:r>
              <a:t>The Hospital Emergency-Room Triage System is a Java project concept designed to organize patient registration and emergency priority management. It records patient details, classifies urgency according to defined categories, and supports viewing, searching, and managing patient records. The project applies Java foundations, control flow, methods, object-oriented programming, String processing, and data structures. The design aims to make patient information easier to manage and demonstrate how programming concepts can model a real-world hospital workflow.</a:t>
            </a:r>
            <a:endParaRPr lang="en-IN"/>
          </a:p>
          <a:p>
            <a:pPr>
              <a:spcAft>
                <a:spcPts val="500"/>
              </a:spcAft>
            </a:pPr>
            <a:endParaRPr lang="en-IN"/>
          </a:p>
          <a:p>
            <a:pPr>
              <a:spcAft>
                <a:spcPts val="500"/>
              </a:spcAft>
            </a:pPr>
            <a:r>
              <a:t>Note: describe only features present in the final code during demonstration.</a:t>
            </a:r>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16-10-2026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a:xfrm>
            <a:off x="1407160" y="320675"/>
            <a:ext cx="10515600" cy="1325563"/>
          </a:xfrm>
        </p:spPr>
        <p:txBody>
          <a:bodyPr/>
          <a:lstStyle/>
          <a:p>
            <a:pPr>
              <a:spcAft>
                <a:spcPts val="500"/>
              </a:spcAft>
            </a:pPr>
            <a:r>
              <a:rPr dirty="0"/>
              <a:t>Understanding Problem Statement</a:t>
            </a:r>
          </a:p>
        </p:txBody>
      </p:sp>
      <p:sp>
        <p:nvSpPr>
          <p:cNvPr id="3" name="Content Placeholder 2">
            <a:extLst>
              <a:ext uri="{FF2B5EF4-FFF2-40B4-BE49-F238E27FC236}">
                <a16:creationId xmlns:a16="http://schemas.microsoft.com/office/drawing/2014/main" id="{B7ACF377-DEED-0D67-3271-7CBBBC860DA8}"/>
              </a:ext>
            </a:extLst>
          </p:cNvPr>
          <p:cNvSpPr>
            <a:spLocks noGrp="1"/>
          </p:cNvSpPr>
          <p:nvPr>
            <p:ph idx="1"/>
          </p:nvPr>
        </p:nvSpPr>
        <p:spPr/>
        <p:txBody>
          <a:bodyPr>
            <a:normAutofit fontScale="55000" lnSpcReduction="20000"/>
          </a:bodyPr>
          <a:lstStyle/>
          <a:p>
            <a:pPr>
              <a:spcAft>
                <a:spcPts val="500"/>
              </a:spcAft>
            </a:pPr>
            <a:r>
              <a:t>Problem: During an emergency, staff need a clear way to record incoming patients and identify which cases require attention first.</a:t>
            </a:r>
            <a:endParaRPr lang="en-IN"/>
          </a:p>
          <a:p>
            <a:pPr>
              <a:spcAft>
                <a:spcPts val="500"/>
              </a:spcAft>
            </a:pPr>
            <a:endParaRPr lang="en-IN"/>
          </a:p>
          <a:p>
            <a:pPr>
              <a:spcAft>
                <a:spcPts val="500"/>
              </a:spcAft>
            </a:pPr>
            <a:r>
              <a:t>Project objectives:</a:t>
            </a:r>
          </a:p>
          <a:p>
            <a:pPr>
              <a:spcAft>
                <a:spcPts val="500"/>
              </a:spcAft>
            </a:pPr>
            <a:r>
              <a:t>• Register patient details such as ID, name, age, and symptoms.</a:t>
            </a:r>
          </a:p>
          <a:p>
            <a:pPr>
              <a:spcAft>
                <a:spcPts val="500"/>
              </a:spcAft>
            </a:pPr>
            <a:r>
              <a:t>• Assign a triage category using the rules defined in the program.</a:t>
            </a:r>
          </a:p>
          <a:p>
            <a:pPr>
              <a:spcAft>
                <a:spcPts val="500"/>
              </a:spcAft>
            </a:pPr>
            <a:r>
              <a:t>• View and search patient records.</a:t>
            </a:r>
          </a:p>
          <a:p>
            <a:pPr>
              <a:spcAft>
                <a:spcPts val="500"/>
              </a:spcAft>
            </a:pPr>
            <a:r>
              <a:t>• Track patient status where supported by the implementation.</a:t>
            </a:r>
          </a:p>
          <a:p>
            <a:pPr>
              <a:spcAft>
                <a:spcPts val="500"/>
              </a:spcAft>
            </a:pPr>
            <a:r>
              <a:t>• Validate input and handle errors safely.</a:t>
            </a:r>
          </a:p>
          <a:p>
            <a:pPr>
              <a:spcAft>
                <a:spcPts val="500"/>
              </a:spcAft>
            </a:pPr>
            <a:endParaRPr/>
          </a:p>
          <a:p>
            <a:pPr>
              <a:spcAft>
                <a:spcPts val="500"/>
              </a:spcAft>
            </a:pPr>
            <a:r>
              <a:t>Expected outcome: a simple Java application that demonstrates organized patient-record and priority management. It is an educational prototype, not a substitute for clinical judgement or approved medical triage protocols.</a:t>
            </a:r>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16-10-2026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p:txBody>
          <a:bodyPr/>
          <a:lstStyle/>
          <a:p>
            <a:pPr>
              <a:spcAft>
                <a:spcPts val="500"/>
              </a:spcAft>
            </a:pPr>
            <a:r>
              <a:t>CO 1 Topics — Java Foundations</a:t>
            </a:r>
          </a:p>
        </p:txBody>
      </p:sp>
      <p:sp>
        <p:nvSpPr>
          <p:cNvPr id="3" name="Content Placeholder 2">
            <a:extLst>
              <a:ext uri="{FF2B5EF4-FFF2-40B4-BE49-F238E27FC236}">
                <a16:creationId xmlns:a16="http://schemas.microsoft.com/office/drawing/2014/main" id="{9AFB5369-B8D0-CB2C-61B6-348BDF6E4004}"/>
              </a:ext>
            </a:extLst>
          </p:cNvPr>
          <p:cNvSpPr>
            <a:spLocks noGrp="1"/>
          </p:cNvSpPr>
          <p:nvPr>
            <p:ph idx="1"/>
          </p:nvPr>
        </p:nvSpPr>
        <p:spPr/>
        <p:txBody>
          <a:bodyPr>
            <a:normAutofit fontScale="62500" lnSpcReduction="20000"/>
          </a:bodyPr>
          <a:lstStyle/>
          <a:p>
            <a:pPr>
              <a:spcAft>
                <a:spcPts val="500"/>
              </a:spcAft>
            </a:pPr>
            <a:r>
              <a:t>Syllabus connection: Module 1 — Computational Thinking &amp; Java Foundations.</a:t>
            </a:r>
            <a:endParaRPr lang="en-IN"/>
          </a:p>
          <a:p>
            <a:pPr>
              <a:spcAft>
                <a:spcPts val="500"/>
              </a:spcAft>
            </a:pPr>
            <a:endParaRPr lang="en-IN"/>
          </a:p>
          <a:p>
            <a:pPr>
              <a:spcAft>
                <a:spcPts val="500"/>
              </a:spcAft>
            </a:pPr>
            <a:r>
              <a:t>• Variables and primitive data types store patient information.</a:t>
            </a:r>
          </a:p>
          <a:p>
            <a:pPr>
              <a:spcAft>
                <a:spcPts val="500"/>
              </a:spcAft>
            </a:pPr>
            <a:r>
              <a:t>• String values represent names and symptoms; numeric values represent IDs and ages.</a:t>
            </a:r>
          </a:p>
          <a:p>
            <a:pPr>
              <a:spcAft>
                <a:spcPts val="500"/>
              </a:spcAft>
            </a:pPr>
            <a:r>
              <a:t>• Scanner can collect patient details from console input.</a:t>
            </a:r>
          </a:p>
          <a:p>
            <a:pPr>
              <a:spcAft>
                <a:spcPts val="500"/>
              </a:spcAft>
            </a:pPr>
            <a:r>
              <a:t>• Operators support comparisons and validation.</a:t>
            </a:r>
          </a:p>
          <a:p>
            <a:pPr>
              <a:spcAft>
                <a:spcPts val="500"/>
              </a:spcAft>
            </a:pPr>
            <a:r>
              <a:t>• Algorithms and flowcharts describe registration, validation, and triage steps.</a:t>
            </a:r>
          </a:p>
          <a:p>
            <a:pPr>
              <a:spcAft>
                <a:spcPts val="500"/>
              </a:spcAft>
            </a:pPr>
            <a:endParaRPr/>
          </a:p>
          <a:p>
            <a:pPr>
              <a:spcAft>
                <a:spcPts val="500"/>
              </a:spcAft>
            </a:pPr>
            <a:r>
              <a:t>Example workflow: read input → validate details → assign a category using project rules → store the record.</a:t>
            </a:r>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16-10-2026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4</a:t>
            </a:fld>
            <a:endParaRPr lang="en-IN"/>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p:txBody>
          <a:bodyPr/>
          <a:lstStyle/>
          <a:p>
            <a:pPr>
              <a:spcAft>
                <a:spcPts val="500"/>
              </a:spcAft>
            </a:pPr>
            <a:r>
              <a:t>CO 2 Topics — Control Flow</a:t>
            </a:r>
          </a:p>
        </p:txBody>
      </p:sp>
      <p:sp>
        <p:nvSpPr>
          <p:cNvPr id="3" name="Content Placeholder 2">
            <a:extLst>
              <a:ext uri="{FF2B5EF4-FFF2-40B4-BE49-F238E27FC236}">
                <a16:creationId xmlns:a16="http://schemas.microsoft.com/office/drawing/2014/main" id="{78027864-8698-BA0E-D44D-3E693AAB48AD}"/>
              </a:ext>
            </a:extLst>
          </p:cNvPr>
          <p:cNvSpPr>
            <a:spLocks noGrp="1"/>
          </p:cNvSpPr>
          <p:nvPr>
            <p:ph idx="1"/>
          </p:nvPr>
        </p:nvSpPr>
        <p:spPr/>
        <p:txBody>
          <a:bodyPr>
            <a:normAutofit fontScale="70000" lnSpcReduction="20000"/>
          </a:bodyPr>
          <a:lstStyle/>
          <a:p>
            <a:pPr>
              <a:spcAft>
                <a:spcPts val="500"/>
              </a:spcAft>
            </a:pPr>
            <a:r>
              <a:t>Syllabus connection: Module 2 — Selection &amp; Iteration.</a:t>
            </a:r>
            <a:endParaRPr lang="en-IN"/>
          </a:p>
          <a:p>
            <a:pPr>
              <a:spcAft>
                <a:spcPts val="500"/>
              </a:spcAft>
            </a:pPr>
            <a:endParaRPr lang="en-IN"/>
          </a:p>
          <a:p>
            <a:pPr>
              <a:spcAft>
                <a:spcPts val="500"/>
              </a:spcAft>
            </a:pPr>
            <a:r>
              <a:t>• if / else-if statements select a category based on the entered triage level or defined conditions.</a:t>
            </a:r>
          </a:p>
          <a:p>
            <a:pPr>
              <a:spcAft>
                <a:spcPts val="500"/>
              </a:spcAft>
            </a:pPr>
            <a:r>
              <a:t>• Loops repeatedly display menus and process multiple patient records.</a:t>
            </a:r>
          </a:p>
          <a:p>
            <a:pPr>
              <a:spcAft>
                <a:spcPts val="500"/>
              </a:spcAft>
            </a:pPr>
            <a:r>
              <a:t>• Conditions check whether a record exists or an input is valid.</a:t>
            </a:r>
          </a:p>
          <a:p>
            <a:pPr>
              <a:spcAft>
                <a:spcPts val="500"/>
              </a:spcAft>
            </a:pPr>
            <a:r>
              <a:t>• switch can be used for menu choices if present in the code.</a:t>
            </a:r>
          </a:p>
          <a:p>
            <a:pPr>
              <a:spcAft>
                <a:spcPts val="500"/>
              </a:spcAft>
            </a:pPr>
            <a:endParaRPr/>
          </a:p>
          <a:p>
            <a:pPr>
              <a:spcAft>
                <a:spcPts val="500"/>
              </a:spcAft>
            </a:pPr>
            <a:r>
              <a:t>These structures control the order of actions and let the program respond differently to different inputs.</a:t>
            </a:r>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16-10-2026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5</a:t>
            </a:fld>
            <a:endParaRPr lang="en-IN"/>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a:xfrm>
            <a:off x="1518920" y="410368"/>
            <a:ext cx="10515600" cy="1325563"/>
          </a:xfrm>
        </p:spPr>
        <p:txBody>
          <a:bodyPr/>
          <a:lstStyle/>
          <a:p>
            <a:pPr>
              <a:spcAft>
                <a:spcPts val="500"/>
              </a:spcAft>
            </a:pPr>
            <a:r>
              <a:rPr dirty="0"/>
              <a:t>CO 3 Topics — Methods, Recursion &amp; Arrays</a:t>
            </a:r>
          </a:p>
        </p:txBody>
      </p:sp>
      <p:sp>
        <p:nvSpPr>
          <p:cNvPr id="3" name="Content Placeholder 2">
            <a:extLst>
              <a:ext uri="{FF2B5EF4-FFF2-40B4-BE49-F238E27FC236}">
                <a16:creationId xmlns:a16="http://schemas.microsoft.com/office/drawing/2014/main" id="{AE8ACD64-BF58-761A-504E-C381351EE857}"/>
              </a:ext>
            </a:extLst>
          </p:cNvPr>
          <p:cNvSpPr>
            <a:spLocks noGrp="1"/>
          </p:cNvSpPr>
          <p:nvPr>
            <p:ph idx="1"/>
          </p:nvPr>
        </p:nvSpPr>
        <p:spPr/>
        <p:txBody>
          <a:bodyPr>
            <a:normAutofit fontScale="62500" lnSpcReduction="20000"/>
          </a:bodyPr>
          <a:lstStyle/>
          <a:p>
            <a:pPr>
              <a:spcAft>
                <a:spcPts val="500"/>
              </a:spcAft>
            </a:pPr>
            <a:r>
              <a:t>Syllabus connection: Module 3 — Decomposition with Methods, Recursion &amp; Arrays.</a:t>
            </a:r>
            <a:endParaRPr lang="en-IN"/>
          </a:p>
          <a:p>
            <a:pPr>
              <a:spcAft>
                <a:spcPts val="500"/>
              </a:spcAft>
            </a:pPr>
            <a:endParaRPr lang="en-IN"/>
          </a:p>
          <a:p>
            <a:pPr>
              <a:spcAft>
                <a:spcPts val="500"/>
              </a:spcAft>
            </a:pPr>
            <a:r>
              <a:t>• Separate methods can handle registration, displaying records, searching, and updating status.</a:t>
            </a:r>
          </a:p>
          <a:p>
            <a:pPr>
              <a:spcAft>
                <a:spcPts val="500"/>
              </a:spcAft>
            </a:pPr>
            <a:r>
              <a:t>• Parameters pass patient IDs or details into methods.</a:t>
            </a:r>
          </a:p>
          <a:p>
            <a:pPr>
              <a:spcAft>
                <a:spcPts val="500"/>
              </a:spcAft>
            </a:pPr>
            <a:r>
              <a:t>• Return values can report whether a patient was found.</a:t>
            </a:r>
          </a:p>
          <a:p>
            <a:pPr>
              <a:spcAft>
                <a:spcPts val="500"/>
              </a:spcAft>
            </a:pPr>
            <a:r>
              <a:t>• Arrays can store and traverse records if used in the implementation.</a:t>
            </a:r>
          </a:p>
          <a:p>
            <a:pPr>
              <a:spcAft>
                <a:spcPts val="500"/>
              </a:spcAft>
            </a:pPr>
            <a:r>
              <a:t>• Counting and searching help summarize or locate patients.</a:t>
            </a:r>
          </a:p>
          <a:p>
            <a:pPr>
              <a:spcAft>
                <a:spcPts val="500"/>
              </a:spcAft>
            </a:pPr>
            <a:endParaRPr/>
          </a:p>
          <a:p>
            <a:pPr>
              <a:spcAft>
                <a:spcPts val="500"/>
              </a:spcAft>
            </a:pPr>
            <a:r>
              <a:t>Modular methods make the program easier to read, test, and maintain.</a:t>
            </a:r>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16-10-2026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a:xfrm>
            <a:off x="8610600" y="6366510"/>
            <a:ext cx="2743200" cy="365125"/>
          </a:xfrm>
        </p:spPr>
        <p:txBody>
          <a:bodyPr/>
          <a:lstStyle/>
          <a:p>
            <a:fld id="{CB012AB6-14AF-4351-87AD-D420B05274E1}" type="slidenum">
              <a:rPr lang="en-IN" smtClean="0"/>
              <a:t>6</a:t>
            </a:fld>
            <a:endParaRPr lang="en-IN"/>
          </a:p>
        </p:txBody>
      </p:sp>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591A-E528-51A2-6477-BF5075B32601}"/>
              </a:ext>
            </a:extLst>
          </p:cNvPr>
          <p:cNvSpPr>
            <a:spLocks noGrp="1"/>
          </p:cNvSpPr>
          <p:nvPr>
            <p:ph type="title"/>
          </p:nvPr>
        </p:nvSpPr>
        <p:spPr>
          <a:xfrm>
            <a:off x="1417320" y="320675"/>
            <a:ext cx="10515600" cy="1325563"/>
          </a:xfrm>
        </p:spPr>
        <p:txBody>
          <a:bodyPr/>
          <a:lstStyle/>
          <a:p>
            <a:pPr>
              <a:spcAft>
                <a:spcPts val="500"/>
              </a:spcAft>
            </a:pPr>
            <a:r>
              <a:rPr dirty="0"/>
              <a:t>CO 4 — Object-Oriented Design &amp; Exceptions</a:t>
            </a:r>
          </a:p>
        </p:txBody>
      </p:sp>
      <p:sp>
        <p:nvSpPr>
          <p:cNvPr id="3" name="Content Placeholder 2">
            <a:extLst>
              <a:ext uri="{FF2B5EF4-FFF2-40B4-BE49-F238E27FC236}">
                <a16:creationId xmlns:a16="http://schemas.microsoft.com/office/drawing/2014/main" id="{44C763C4-B644-2CBF-4AE1-87632858C4E5}"/>
              </a:ext>
            </a:extLst>
          </p:cNvPr>
          <p:cNvSpPr>
            <a:spLocks noGrp="1"/>
          </p:cNvSpPr>
          <p:nvPr>
            <p:ph idx="1"/>
          </p:nvPr>
        </p:nvSpPr>
        <p:spPr/>
        <p:txBody>
          <a:bodyPr>
            <a:normAutofit fontScale="70000" lnSpcReduction="20000"/>
          </a:bodyPr>
          <a:lstStyle/>
          <a:p>
            <a:pPr>
              <a:spcAft>
                <a:spcPts val="500"/>
              </a:spcAft>
            </a:pPr>
            <a:r>
              <a:t>Syllabus connection: Module 4 — Object-Oriented Modelling, Design &amp; Exception Handling.</a:t>
            </a:r>
            <a:endParaRPr lang="en-IN"/>
          </a:p>
          <a:p>
            <a:pPr>
              <a:spcAft>
                <a:spcPts val="500"/>
              </a:spcAft>
            </a:pPr>
            <a:endParaRPr lang="en-IN"/>
          </a:p>
          <a:p>
            <a:pPr>
              <a:spcAft>
                <a:spcPts val="500"/>
              </a:spcAft>
            </a:pPr>
            <a:r>
              <a:t>• A Patient class models a real-world patient record.</a:t>
            </a:r>
          </a:p>
          <a:p>
            <a:pPr>
              <a:spcAft>
                <a:spcPts val="500"/>
              </a:spcAft>
            </a:pPr>
            <a:r>
              <a:t>• Objects represent individual patients.</a:t>
            </a:r>
          </a:p>
          <a:p>
            <a:pPr>
              <a:spcAft>
                <a:spcPts val="500"/>
              </a:spcAft>
            </a:pPr>
            <a:r>
              <a:t>• Fields store patient details; constructors initialize them.</a:t>
            </a:r>
          </a:p>
          <a:p>
            <a:pPr>
              <a:spcAft>
                <a:spcPts val="500"/>
              </a:spcAft>
            </a:pPr>
            <a:r>
              <a:t>• Encapsulation uses private fields and controlled access methods.</a:t>
            </a:r>
          </a:p>
          <a:p>
            <a:pPr>
              <a:spcAft>
                <a:spcPts val="500"/>
              </a:spcAft>
            </a:pPr>
            <a:r>
              <a:t>• try-catch can handle invalid input or runtime errors where implemented.</a:t>
            </a:r>
          </a:p>
          <a:p>
            <a:pPr>
              <a:spcAft>
                <a:spcPts val="500"/>
              </a:spcAft>
            </a:pPr>
            <a:endParaRPr/>
          </a:p>
          <a:p>
            <a:pPr>
              <a:spcAft>
                <a:spcPts val="500"/>
              </a:spcAft>
            </a:pPr>
            <a:r>
              <a:t>Use inheritance, interfaces, or custom exceptions in the presentation only if they appear in your actual source code.</a:t>
            </a:r>
          </a:p>
        </p:txBody>
      </p:sp>
      <p:sp>
        <p:nvSpPr>
          <p:cNvPr id="4" name="Date Placeholder 3">
            <a:extLst>
              <a:ext uri="{FF2B5EF4-FFF2-40B4-BE49-F238E27FC236}">
                <a16:creationId xmlns:a16="http://schemas.microsoft.com/office/drawing/2014/main" id="{12815390-19B0-38A3-419D-59F37FA3AD2A}"/>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FD53250B-C6BE-E742-A34D-6B496E77E1B6}"/>
              </a:ext>
            </a:extLst>
          </p:cNvPr>
          <p:cNvSpPr>
            <a:spLocks noGrp="1"/>
          </p:cNvSpPr>
          <p:nvPr>
            <p:ph type="sldNum" sz="quarter" idx="12"/>
          </p:nvPr>
        </p:nvSpPr>
        <p:spPr/>
        <p:txBody>
          <a:bodyPr/>
          <a:lstStyle/>
          <a:p>
            <a:fld id="{CB012AB6-14AF-4351-87AD-D420B05274E1}" type="slidenum">
              <a:rPr lang="en-IN" smtClean="0"/>
              <a:t>7</a:t>
            </a:fld>
            <a:endParaRPr lang="en-IN" dirty="0"/>
          </a:p>
        </p:txBody>
      </p:sp>
    </p:spTree>
    <p:extLst>
      <p:ext uri="{BB962C8B-B14F-4D97-AF65-F5344CB8AC3E}">
        <p14:creationId xmlns:p14="http://schemas.microsoft.com/office/powerpoint/2010/main" val="2034974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DDC3-4D1F-21CF-55F4-04AC539E2B86}"/>
              </a:ext>
            </a:extLst>
          </p:cNvPr>
          <p:cNvSpPr>
            <a:spLocks noGrp="1"/>
          </p:cNvSpPr>
          <p:nvPr>
            <p:ph type="title"/>
          </p:nvPr>
        </p:nvSpPr>
        <p:spPr>
          <a:xfrm>
            <a:off x="1498600" y="320675"/>
            <a:ext cx="10515600" cy="1325563"/>
          </a:xfrm>
        </p:spPr>
        <p:txBody>
          <a:bodyPr/>
          <a:lstStyle/>
          <a:p>
            <a:pPr>
              <a:spcAft>
                <a:spcPts val="500"/>
              </a:spcAft>
            </a:pPr>
            <a:r>
              <a:rPr dirty="0"/>
              <a:t>CO 5 — Strings, Searching &amp; File I/O</a:t>
            </a:r>
          </a:p>
        </p:txBody>
      </p:sp>
      <p:sp>
        <p:nvSpPr>
          <p:cNvPr id="3" name="Content Placeholder 2">
            <a:extLst>
              <a:ext uri="{FF2B5EF4-FFF2-40B4-BE49-F238E27FC236}">
                <a16:creationId xmlns:a16="http://schemas.microsoft.com/office/drawing/2014/main" id="{AC22B8C9-B5A8-6FD1-7D16-20BF4FBD74F4}"/>
              </a:ext>
            </a:extLst>
          </p:cNvPr>
          <p:cNvSpPr>
            <a:spLocks noGrp="1"/>
          </p:cNvSpPr>
          <p:nvPr>
            <p:ph idx="1"/>
          </p:nvPr>
        </p:nvSpPr>
        <p:spPr/>
        <p:txBody>
          <a:bodyPr>
            <a:normAutofit fontScale="70000" lnSpcReduction="20000"/>
          </a:bodyPr>
          <a:lstStyle/>
          <a:p>
            <a:pPr>
              <a:spcAft>
                <a:spcPts val="500"/>
              </a:spcAft>
            </a:pPr>
            <a:r>
              <a:t>Syllabus connection: Module 5 — Strings, Library Algorithms &amp; File I/O.</a:t>
            </a:r>
            <a:endParaRPr lang="en-IN"/>
          </a:p>
          <a:p>
            <a:pPr>
              <a:spcAft>
                <a:spcPts val="500"/>
              </a:spcAft>
            </a:pPr>
            <a:endParaRPr lang="en-IN"/>
          </a:p>
          <a:p>
            <a:pPr>
              <a:spcAft>
                <a:spcPts val="500"/>
              </a:spcAft>
            </a:pPr>
            <a:r>
              <a:t>• String operations process names, symptoms, and priority labels.</a:t>
            </a:r>
          </a:p>
          <a:p>
            <a:pPr>
              <a:spcAft>
                <a:spcPts val="500"/>
              </a:spcAft>
            </a:pPr>
            <a:r>
              <a:t>• equals / equalsIgnoreCase compare text values.</a:t>
            </a:r>
          </a:p>
          <a:p>
            <a:pPr>
              <a:spcAft>
                <a:spcPts val="500"/>
              </a:spcAft>
            </a:pPr>
            <a:r>
              <a:t>• Searching locates records by ID or name.</a:t>
            </a:r>
          </a:p>
          <a:p>
            <a:pPr>
              <a:spcAft>
                <a:spcPts val="500"/>
              </a:spcAft>
            </a:pPr>
            <a:r>
              <a:t>• Sorting can organize records by a chosen field or priority if implemented.</a:t>
            </a:r>
          </a:p>
          <a:p>
            <a:pPr>
              <a:spcAft>
                <a:spcPts val="500"/>
              </a:spcAft>
            </a:pPr>
            <a:r>
              <a:t>• File I/O can save and reload patient records between runs.</a:t>
            </a:r>
          </a:p>
          <a:p>
            <a:pPr>
              <a:spcAft>
                <a:spcPts val="500"/>
              </a:spcAft>
            </a:pPr>
            <a:endParaRPr/>
          </a:p>
          <a:p>
            <a:pPr>
              <a:spcAft>
                <a:spcPts val="500"/>
              </a:spcAft>
            </a:pPr>
            <a:r>
              <a:t>File persistence and sorting are implementation-dependent; if not yet coded, present them as possible extensions.</a:t>
            </a:r>
          </a:p>
        </p:txBody>
      </p:sp>
      <p:sp>
        <p:nvSpPr>
          <p:cNvPr id="4" name="Date Placeholder 3">
            <a:extLst>
              <a:ext uri="{FF2B5EF4-FFF2-40B4-BE49-F238E27FC236}">
                <a16:creationId xmlns:a16="http://schemas.microsoft.com/office/drawing/2014/main" id="{84AD4194-282F-9DD3-B905-AF4DCC709072}"/>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012EFFB7-2020-7F21-31F3-A08A79B5EFF2}"/>
              </a:ext>
            </a:extLst>
          </p:cNvPr>
          <p:cNvSpPr>
            <a:spLocks noGrp="1"/>
          </p:cNvSpPr>
          <p:nvPr>
            <p:ph type="sldNum" sz="quarter" idx="12"/>
          </p:nvPr>
        </p:nvSpPr>
        <p:spPr/>
        <p:txBody>
          <a:bodyPr/>
          <a:lstStyle/>
          <a:p>
            <a:fld id="{CB012AB6-14AF-4351-87AD-D420B05274E1}" type="slidenum">
              <a:rPr lang="en-IN" smtClean="0"/>
              <a:t>8</a:t>
            </a:fld>
            <a:endParaRPr lang="en-IN"/>
          </a:p>
        </p:txBody>
      </p:sp>
    </p:spTree>
    <p:extLst>
      <p:ext uri="{BB962C8B-B14F-4D97-AF65-F5344CB8AC3E}">
        <p14:creationId xmlns:p14="http://schemas.microsoft.com/office/powerpoint/2010/main" val="2377368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C36F-68C1-38D5-BFA7-072938C7FF01}"/>
              </a:ext>
            </a:extLst>
          </p:cNvPr>
          <p:cNvSpPr>
            <a:spLocks noGrp="1"/>
          </p:cNvSpPr>
          <p:nvPr>
            <p:ph type="title"/>
          </p:nvPr>
        </p:nvSpPr>
        <p:spPr>
          <a:xfrm>
            <a:off x="1336040" y="320675"/>
            <a:ext cx="10515600" cy="1325563"/>
          </a:xfrm>
        </p:spPr>
        <p:txBody>
          <a:bodyPr/>
          <a:lstStyle/>
          <a:p>
            <a:pPr>
              <a:spcAft>
                <a:spcPts val="500"/>
              </a:spcAft>
            </a:pPr>
            <a:r>
              <a:rPr dirty="0"/>
              <a:t>CO 6 — Collections, Generics &amp; Streams</a:t>
            </a:r>
          </a:p>
        </p:txBody>
      </p:sp>
      <p:sp>
        <p:nvSpPr>
          <p:cNvPr id="3" name="Content Placeholder 2">
            <a:extLst>
              <a:ext uri="{FF2B5EF4-FFF2-40B4-BE49-F238E27FC236}">
                <a16:creationId xmlns:a16="http://schemas.microsoft.com/office/drawing/2014/main" id="{4D1AB529-5F96-F28F-CD50-8BFE419EE30E}"/>
              </a:ext>
            </a:extLst>
          </p:cNvPr>
          <p:cNvSpPr>
            <a:spLocks noGrp="1"/>
          </p:cNvSpPr>
          <p:nvPr>
            <p:ph idx="1"/>
          </p:nvPr>
        </p:nvSpPr>
        <p:spPr/>
        <p:txBody>
          <a:bodyPr>
            <a:normAutofit fontScale="62500" lnSpcReduction="20000"/>
          </a:bodyPr>
          <a:lstStyle/>
          <a:p>
            <a:pPr>
              <a:spcAft>
                <a:spcPts val="500"/>
              </a:spcAft>
            </a:pPr>
            <a:r>
              <a:t>Syllabus connection: Module 6 — Functional Programming with Collections &amp; Streams.</a:t>
            </a:r>
            <a:endParaRPr lang="en-IN"/>
          </a:p>
          <a:p>
            <a:pPr>
              <a:spcAft>
                <a:spcPts val="500"/>
              </a:spcAft>
            </a:pPr>
            <a:endParaRPr lang="en-IN"/>
          </a:p>
          <a:p>
            <a:pPr>
              <a:spcAft>
                <a:spcPts val="500"/>
              </a:spcAft>
            </a:pPr>
            <a:r>
              <a:t>• ArrayList can hold a changing number of Patient objects.</a:t>
            </a:r>
          </a:p>
          <a:p>
            <a:pPr>
              <a:spcAft>
                <a:spcPts val="500"/>
              </a:spcAft>
            </a:pPr>
            <a:r>
              <a:t>• HashMap can map patient IDs to records if used.</a:t>
            </a:r>
          </a:p>
          <a:p>
            <a:pPr>
              <a:spcAft>
                <a:spcPts val="500"/>
              </a:spcAft>
            </a:pPr>
            <a:r>
              <a:t>• Generics provide type-safe collections such as ArrayList&lt;Patient&gt;.</a:t>
            </a:r>
          </a:p>
          <a:p>
            <a:pPr>
              <a:spcAft>
                <a:spcPts val="500"/>
              </a:spcAft>
            </a:pPr>
            <a:r>
              <a:t>• Comparator can define sorting order.</a:t>
            </a:r>
          </a:p>
          <a:p>
            <a:pPr>
              <a:spcAft>
                <a:spcPts val="500"/>
              </a:spcAft>
            </a:pPr>
            <a:r>
              <a:t>• Streams and lambdas can filter or count records when implemented.</a:t>
            </a:r>
          </a:p>
          <a:p>
            <a:pPr>
              <a:spcAft>
                <a:spcPts val="500"/>
              </a:spcAft>
            </a:pPr>
            <a:endParaRPr/>
          </a:p>
          <a:p>
            <a:pPr>
              <a:spcAft>
                <a:spcPts val="500"/>
              </a:spcAft>
            </a:pPr>
            <a:r>
              <a:t>Explain only the collections and functional APIs actually used in your code; the remaining items are possible enhancements.</a:t>
            </a:r>
          </a:p>
        </p:txBody>
      </p:sp>
      <p:sp>
        <p:nvSpPr>
          <p:cNvPr id="4" name="Date Placeholder 3">
            <a:extLst>
              <a:ext uri="{FF2B5EF4-FFF2-40B4-BE49-F238E27FC236}">
                <a16:creationId xmlns:a16="http://schemas.microsoft.com/office/drawing/2014/main" id="{FCA7D639-42E4-340C-86C7-AC49E0E499A2}"/>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49D618D2-09FF-1F94-1B2A-BA5BD90DF337}"/>
              </a:ext>
            </a:extLst>
          </p:cNvPr>
          <p:cNvSpPr>
            <a:spLocks noGrp="1"/>
          </p:cNvSpPr>
          <p:nvPr>
            <p:ph type="sldNum" sz="quarter" idx="12"/>
          </p:nvPr>
        </p:nvSpPr>
        <p:spPr>
          <a:xfrm>
            <a:off x="8610600" y="6366510"/>
            <a:ext cx="2743200" cy="365125"/>
          </a:xfrm>
        </p:spPr>
        <p:txBody>
          <a:bodyPr/>
          <a:lstStyle/>
          <a:p>
            <a:fld id="{CB012AB6-14AF-4351-87AD-D420B05274E1}" type="slidenum">
              <a:rPr lang="en-IN" smtClean="0"/>
              <a:t>9</a:t>
            </a:fld>
            <a:endParaRPr lang="en-IN"/>
          </a:p>
        </p:txBody>
      </p:sp>
    </p:spTree>
    <p:extLst>
      <p:ext uri="{BB962C8B-B14F-4D97-AF65-F5344CB8AC3E}">
        <p14:creationId xmlns:p14="http://schemas.microsoft.com/office/powerpoint/2010/main" val="70711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D3A7-F925-7472-F39D-15B33FC20F53}"/>
              </a:ext>
            </a:extLst>
          </p:cNvPr>
          <p:cNvSpPr>
            <a:spLocks noGrp="1"/>
          </p:cNvSpPr>
          <p:nvPr>
            <p:ph type="title"/>
          </p:nvPr>
        </p:nvSpPr>
        <p:spPr/>
        <p:txBody>
          <a:bodyPr/>
          <a:lstStyle/>
          <a:p>
            <a:pPr>
              <a:spcAft>
                <a:spcPts val="500"/>
              </a:spcAft>
            </a:pPr>
            <a:r>
              <a:t>Conclusion</a:t>
            </a:r>
          </a:p>
        </p:txBody>
      </p:sp>
      <p:sp>
        <p:nvSpPr>
          <p:cNvPr id="3" name="Content Placeholder 2">
            <a:extLst>
              <a:ext uri="{FF2B5EF4-FFF2-40B4-BE49-F238E27FC236}">
                <a16:creationId xmlns:a16="http://schemas.microsoft.com/office/drawing/2014/main" id="{E2A290F1-736B-3136-6FB3-89FC4E638D92}"/>
              </a:ext>
            </a:extLst>
          </p:cNvPr>
          <p:cNvSpPr>
            <a:spLocks noGrp="1"/>
          </p:cNvSpPr>
          <p:nvPr>
            <p:ph idx="1"/>
          </p:nvPr>
        </p:nvSpPr>
        <p:spPr/>
        <p:txBody>
          <a:bodyPr>
            <a:normAutofit fontScale="55000" lnSpcReduction="20000"/>
          </a:bodyPr>
          <a:lstStyle/>
          <a:p>
            <a:pPr>
              <a:spcAft>
                <a:spcPts val="500"/>
              </a:spcAft>
            </a:pPr>
            <a:r>
              <a:rPr dirty="0"/>
              <a:t>The Hospital Emergency-Room Triage System connects Java programming concepts with a practical patient-management scenario. It demonstrates how input handling, conditions, methods, object-oriented modelling, searching, and data structures can support an organized workflow.</a:t>
            </a:r>
            <a:endParaRPr lang="en-IN" dirty="0"/>
          </a:p>
          <a:p>
            <a:pPr>
              <a:spcAft>
                <a:spcPts val="500"/>
              </a:spcAft>
            </a:pPr>
            <a:endParaRPr lang="en-IN" dirty="0"/>
          </a:p>
          <a:p>
            <a:pPr>
              <a:spcAft>
                <a:spcPts val="500"/>
              </a:spcAft>
            </a:pPr>
            <a:r>
              <a:rPr dirty="0"/>
              <a:t>Future scope:</a:t>
            </a:r>
          </a:p>
          <a:p>
            <a:pPr>
              <a:spcAft>
                <a:spcPts val="500"/>
              </a:spcAft>
            </a:pPr>
            <a:r>
              <a:rPr dirty="0"/>
              <a:t>• Persistent database or file storage.</a:t>
            </a:r>
          </a:p>
          <a:p>
            <a:pPr>
              <a:spcAft>
                <a:spcPts val="500"/>
              </a:spcAft>
            </a:pPr>
            <a:r>
              <a:rPr dirty="0"/>
              <a:t>• Role-based access for authorized users.</a:t>
            </a:r>
          </a:p>
          <a:p>
            <a:pPr>
              <a:spcAft>
                <a:spcPts val="500"/>
              </a:spcAft>
            </a:pPr>
            <a:r>
              <a:rPr dirty="0"/>
              <a:t>• Patient status history and reporting.</a:t>
            </a:r>
          </a:p>
          <a:p>
            <a:pPr>
              <a:spcAft>
                <a:spcPts val="500"/>
              </a:spcAft>
            </a:pPr>
            <a:r>
              <a:rPr dirty="0"/>
              <a:t>• A graphical user interface and notifications.</a:t>
            </a:r>
          </a:p>
          <a:p>
            <a:pPr>
              <a:spcAft>
                <a:spcPts val="500"/>
              </a:spcAft>
            </a:pPr>
            <a:r>
              <a:rPr dirty="0"/>
              <a:t>• Validation against clinically approved triage protocols.</a:t>
            </a:r>
          </a:p>
          <a:p>
            <a:pPr>
              <a:spcAft>
                <a:spcPts val="500"/>
              </a:spcAft>
            </a:pPr>
            <a:endParaRPr dirty="0"/>
          </a:p>
          <a:p>
            <a:pPr>
              <a:spcAft>
                <a:spcPts val="500"/>
              </a:spcAft>
            </a:pPr>
            <a:r>
              <a:rPr dirty="0"/>
              <a:t>This project is an academic prototype and does not make real medical decisions.</a:t>
            </a:r>
          </a:p>
        </p:txBody>
      </p:sp>
      <p:sp>
        <p:nvSpPr>
          <p:cNvPr id="4" name="Date Placeholder 3">
            <a:extLst>
              <a:ext uri="{FF2B5EF4-FFF2-40B4-BE49-F238E27FC236}">
                <a16:creationId xmlns:a16="http://schemas.microsoft.com/office/drawing/2014/main" id="{26120CA1-D5C4-5904-1345-350900EF2C7B}"/>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9292BF1E-562C-F1F9-8BD5-71BDFB3438D1}"/>
              </a:ext>
            </a:extLst>
          </p:cNvPr>
          <p:cNvSpPr>
            <a:spLocks noGrp="1"/>
          </p:cNvSpPr>
          <p:nvPr>
            <p:ph type="sldNum" sz="quarter" idx="12"/>
          </p:nvPr>
        </p:nvSpPr>
        <p:spPr/>
        <p:txBody>
          <a:bodyPr/>
          <a:lstStyle/>
          <a:p>
            <a:fld id="{CB012AB6-14AF-4351-87AD-D420B05274E1}" type="slidenum">
              <a:rPr lang="en-IN" smtClean="0"/>
              <a:t>10</a:t>
            </a:fld>
            <a:endParaRPr lang="en-IN"/>
          </a:p>
        </p:txBody>
      </p:sp>
    </p:spTree>
    <p:extLst>
      <p:ext uri="{BB962C8B-B14F-4D97-AF65-F5344CB8AC3E}">
        <p14:creationId xmlns:p14="http://schemas.microsoft.com/office/powerpoint/2010/main" val="1744964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7661-8074-79B2-B035-E36DFB30941A}"/>
              </a:ext>
            </a:extLst>
          </p:cNvPr>
          <p:cNvSpPr>
            <a:spLocks noGrp="1"/>
          </p:cNvSpPr>
          <p:nvPr>
            <p:ph type="title"/>
          </p:nvPr>
        </p:nvSpPr>
        <p:spPr>
          <a:xfrm>
            <a:off x="1080796" y="365125"/>
            <a:ext cx="10515600" cy="1325563"/>
          </a:xfrm>
        </p:spPr>
        <p:txBody>
          <a:bodyPr>
            <a:normAutofit fontScale="90000"/>
          </a:bodyPr>
          <a:lstStyle/>
          <a:p>
            <a:pPr>
              <a:spcAft>
                <a:spcPts val="500"/>
              </a:spcAft>
            </a:pPr>
            <a:r>
              <a:rPr lang="en-IN" dirty="0" smtClean="0"/>
              <a:t/>
            </a:r>
            <a:br>
              <a:rPr lang="en-IN" dirty="0" smtClean="0"/>
            </a:br>
            <a:r>
              <a:rPr lang="en-IN" dirty="0" smtClean="0"/>
              <a:t>Screen Shots   </a:t>
            </a:r>
            <a:br>
              <a:rPr lang="en-IN" dirty="0" smtClean="0"/>
            </a:br>
            <a:r>
              <a:rPr lang="en-IN" sz="3600" dirty="0" smtClean="0"/>
              <a:t>Program Execution</a:t>
            </a:r>
            <a:r>
              <a:rPr lang="en-IN" dirty="0" smtClean="0"/>
              <a:t>        Output</a:t>
            </a:r>
            <a:endParaRPr lang="en-IN" dirty="0"/>
          </a:p>
        </p:txBody>
      </p:sp>
      <p:pic>
        <p:nvPicPr>
          <p:cNvPr id="6" name="Content Placeholder 5"/>
          <p:cNvPicPr>
            <a:picLocks noGrp="1" noChangeAspect="1"/>
          </p:cNvPicPr>
          <p:nvPr>
            <p:ph idx="1"/>
          </p:nvPr>
        </p:nvPicPr>
        <p:blipFill>
          <a:blip r:embed="rId2"/>
          <a:stretch>
            <a:fillRect/>
          </a:stretch>
        </p:blipFill>
        <p:spPr>
          <a:xfrm>
            <a:off x="6662057" y="2313992"/>
            <a:ext cx="3778898" cy="2799184"/>
          </a:xfrm>
          <a:prstGeom prst="rect">
            <a:avLst/>
          </a:prstGeom>
        </p:spPr>
      </p:pic>
      <p:sp>
        <p:nvSpPr>
          <p:cNvPr id="4" name="Date Placeholder 3">
            <a:extLst>
              <a:ext uri="{FF2B5EF4-FFF2-40B4-BE49-F238E27FC236}">
                <a16:creationId xmlns:a16="http://schemas.microsoft.com/office/drawing/2014/main" id="{D39311A9-71C6-FE7D-18DF-375E38D5022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DBB251AB-4887-6558-97BB-1B1D9180333A}"/>
              </a:ext>
            </a:extLst>
          </p:cNvPr>
          <p:cNvSpPr>
            <a:spLocks noGrp="1"/>
          </p:cNvSpPr>
          <p:nvPr>
            <p:ph type="sldNum" sz="quarter" idx="12"/>
          </p:nvPr>
        </p:nvSpPr>
        <p:spPr/>
        <p:txBody>
          <a:bodyPr/>
          <a:lstStyle/>
          <a:p>
            <a:fld id="{CB012AB6-14AF-4351-87AD-D420B05274E1}" type="slidenum">
              <a:rPr lang="en-IN" smtClean="0"/>
              <a:t>11</a:t>
            </a:fld>
            <a:endParaRPr lang="en-IN"/>
          </a:p>
        </p:txBody>
      </p:sp>
      <p:pic>
        <p:nvPicPr>
          <p:cNvPr id="7" name="Picture 6"/>
          <p:cNvPicPr>
            <a:picLocks noChangeAspect="1"/>
          </p:cNvPicPr>
          <p:nvPr/>
        </p:nvPicPr>
        <p:blipFill>
          <a:blip r:embed="rId3"/>
          <a:stretch>
            <a:fillRect/>
          </a:stretch>
        </p:blipFill>
        <p:spPr>
          <a:xfrm>
            <a:off x="1213034" y="2182422"/>
            <a:ext cx="3330974" cy="4274362"/>
          </a:xfrm>
          <a:prstGeom prst="rect">
            <a:avLst/>
          </a:prstGeom>
        </p:spPr>
      </p:pic>
    </p:spTree>
    <p:extLst>
      <p:ext uri="{BB962C8B-B14F-4D97-AF65-F5344CB8AC3E}">
        <p14:creationId xmlns:p14="http://schemas.microsoft.com/office/powerpoint/2010/main" val="201529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p:txBody>
          <a:bodyPr/>
          <a:lstStyle/>
          <a:p>
            <a:pPr>
              <a:spcAft>
                <a:spcPts val="500"/>
              </a:spcAft>
            </a:pPr>
            <a:r>
              <a:rPr dirty="0"/>
              <a:t>Geo Tag </a:t>
            </a:r>
            <a:r>
              <a:rPr dirty="0" smtClean="0"/>
              <a:t>Photo</a:t>
            </a:r>
            <a:r>
              <a:rPr lang="en-GB" dirty="0" smtClean="0"/>
              <a:t>     Git Hub Link</a:t>
            </a:r>
            <a:r>
              <a:rPr dirty="0" smtClean="0"/>
              <a:t> </a:t>
            </a:r>
            <a:endParaRPr dirty="0"/>
          </a:p>
        </p:txBody>
      </p:sp>
      <p:sp>
        <p:nvSpPr>
          <p:cNvPr id="4" name="Date Placeholder 3">
            <a:extLst>
              <a:ext uri="{FF2B5EF4-FFF2-40B4-BE49-F238E27FC236}">
                <a16:creationId xmlns:a16="http://schemas.microsoft.com/office/drawing/2014/main" id="{48D4BAD5-7EFF-4B1E-4929-B42B4691DD0D}"/>
              </a:ext>
            </a:extLst>
          </p:cNvPr>
          <p:cNvSpPr>
            <a:spLocks noGrp="1"/>
          </p:cNvSpPr>
          <p:nvPr>
            <p:ph type="dt" sz="half" idx="10"/>
          </p:nvPr>
        </p:nvSpPr>
        <p:spPr/>
        <p:txBody>
          <a:bodyPr/>
          <a:lstStyle/>
          <a:p>
            <a:fld id="{C1514C08-598A-44BF-A4B1-00F35979A9B0}" type="datetime1">
              <a:rPr lang="en-IN" smtClean="0"/>
              <a:t>16-10-2026</a:t>
            </a:fld>
            <a:endParaRPr lang="en-IN"/>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fld id="{CB012AB6-14AF-4351-87AD-D420B05274E1}" type="slidenum">
              <a:rPr lang="en-IN" smtClean="0"/>
              <a:t>12</a:t>
            </a:fld>
            <a:endParaRPr lang="en-IN"/>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075" y="1520890"/>
            <a:ext cx="4982834" cy="4835460"/>
          </a:xfrm>
          <a:prstGeom prst="rect">
            <a:avLst/>
          </a:prstGeom>
        </p:spPr>
      </p:pic>
      <p:sp>
        <p:nvSpPr>
          <p:cNvPr id="12" name="Rectangle 11"/>
          <p:cNvSpPr/>
          <p:nvPr/>
        </p:nvSpPr>
        <p:spPr>
          <a:xfrm>
            <a:off x="5831840" y="2093575"/>
            <a:ext cx="6096000" cy="923330"/>
          </a:xfrm>
          <a:prstGeom prst="rect">
            <a:avLst/>
          </a:prstGeom>
        </p:spPr>
        <p:txBody>
          <a:bodyPr>
            <a:spAutoFit/>
          </a:bodyPr>
          <a:lstStyle/>
          <a:p>
            <a:r>
              <a:rPr lang="en-GB" dirty="0"/>
              <a:t>https://github.com/amulyareddy967/KLH_2026-27__PSPJ_Hospital-Emergency-Room-Triage-System</a:t>
            </a:r>
          </a:p>
        </p:txBody>
      </p:sp>
    </p:spTree>
    <p:extLst>
      <p:ext uri="{BB962C8B-B14F-4D97-AF65-F5344CB8AC3E}">
        <p14:creationId xmlns:p14="http://schemas.microsoft.com/office/powerpoint/2010/main" val="1396777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2447925"/>
            <a:ext cx="10515600" cy="1325563"/>
          </a:xfrm>
        </p:spPr>
        <p:txBody>
          <a:bodyPr/>
          <a:lstStyle/>
          <a:p>
            <a:r>
              <a:rPr lang="en-GB" dirty="0" smtClean="0"/>
              <a:t>THANK YOU</a:t>
            </a:r>
            <a:endParaRPr lang="en-GB" dirty="0"/>
          </a:p>
        </p:txBody>
      </p:sp>
      <p:sp>
        <p:nvSpPr>
          <p:cNvPr id="3" name="Date Placeholder 2"/>
          <p:cNvSpPr>
            <a:spLocks noGrp="1"/>
          </p:cNvSpPr>
          <p:nvPr>
            <p:ph type="dt" sz="half" idx="10"/>
          </p:nvPr>
        </p:nvSpPr>
        <p:spPr/>
        <p:txBody>
          <a:bodyPr/>
          <a:lstStyle/>
          <a:p>
            <a:fld id="{48F51132-6BA4-40BC-AB03-D6B9C4F193FC}" type="datetime1">
              <a:rPr lang="en-IN" smtClean="0"/>
              <a:t>16-10-2026</a:t>
            </a:fld>
            <a:endParaRPr lang="en-IN"/>
          </a:p>
        </p:txBody>
      </p:sp>
      <p:sp>
        <p:nvSpPr>
          <p:cNvPr id="4" name="Slide Number Placeholder 3"/>
          <p:cNvSpPr>
            <a:spLocks noGrp="1"/>
          </p:cNvSpPr>
          <p:nvPr>
            <p:ph type="sldNum" sz="quarter" idx="12"/>
          </p:nvPr>
        </p:nvSpPr>
        <p:spPr/>
        <p:txBody>
          <a:bodyPr/>
          <a:lstStyle/>
          <a:p>
            <a:fld id="{CB012AB6-14AF-4351-87AD-D420B05274E1}" type="slidenum">
              <a:rPr lang="en-IN" smtClean="0"/>
              <a:t>13</a:t>
            </a:fld>
            <a:endParaRPr lang="en-IN"/>
          </a:p>
        </p:txBody>
      </p:sp>
    </p:spTree>
    <p:extLst>
      <p:ext uri="{BB962C8B-B14F-4D97-AF65-F5344CB8AC3E}">
        <p14:creationId xmlns:p14="http://schemas.microsoft.com/office/powerpoint/2010/main" val="3061695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308</TotalTime>
  <Words>925</Words>
  <Application>Microsoft Office PowerPoint</Application>
  <PresentationFormat>Widescreen</PresentationFormat>
  <Paragraphs>121</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Hospital Emergency-Room Triage System Team No: 24</vt:lpstr>
      <vt:lpstr>Abstract</vt:lpstr>
      <vt:lpstr>Understanding Problem Statement</vt:lpstr>
      <vt:lpstr>CO 1 Topics — Java Foundations</vt:lpstr>
      <vt:lpstr>CO 2 Topics — Control Flow</vt:lpstr>
      <vt:lpstr>CO 3 Topics — Methods, Recursion &amp; Arrays</vt:lpstr>
      <vt:lpstr>CO 4 — Object-Oriented Design &amp; Exceptions</vt:lpstr>
      <vt:lpstr>CO 5 — Strings, Searching &amp; File I/O</vt:lpstr>
      <vt:lpstr>CO 6 — Collections, Generics &amp; Streams</vt:lpstr>
      <vt:lpstr>Conclusion</vt:lpstr>
      <vt:lpstr> Screen Shots    Program Execution        Output</vt:lpstr>
      <vt:lpstr>Geo Tag Photo     Git Hub Link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 Team No</dc:title>
  <dc:creator>TSP MADHURI</dc:creator>
  <cp:lastModifiedBy>admin</cp:lastModifiedBy>
  <cp:revision>6</cp:revision>
  <dcterms:created xsi:type="dcterms:W3CDTF">2026-09-15T09:57:10Z</dcterms:created>
  <dcterms:modified xsi:type="dcterms:W3CDTF">2026-10-16T05:22:14Z</dcterms:modified>
</cp:coreProperties>
</file>